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4" r:id="rId11"/>
    <p:sldId id="345" r:id="rId12"/>
    <p:sldId id="346" r:id="rId13"/>
    <p:sldId id="349" r:id="rId14"/>
    <p:sldId id="347" r:id="rId15"/>
    <p:sldId id="341" r:id="rId16"/>
    <p:sldId id="348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D467-0F50-43C9-A9C4-A8DE8F2EF2C4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653F-3948-4D7C-8CD9-5256480121D0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6A22-8223-4DBB-A95C-A0FBD52AB03D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8D-DB92-4531-B2B1-A37602B1FCE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9947-CA44-4050-8A76-60011AF82291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CD94C-758B-4F0E-AB38-5FCB166F22AC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ECD5-F4B1-47A4-97C7-457FCCF6FEE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14AE-1D54-4B5E-AFEE-1B58AA77C659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AF1B-F372-4F49-9088-5D43459E8200}" type="datetime1">
              <a:rPr lang="en-US" smtClean="0"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EDD91-AFB9-4692-AC48-17B35B098B01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FC43-83B5-4EA3-B0B0-6590CEDE18B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84B8-8A38-4BCA-B0C1-FD6F6BF0385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F492-7BDB-464A-92EA-ECA0F663FB4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98D2-6B24-459F-899E-EB9A145B176C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44BDD-7179-4631-ACEB-0429FCCC034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1BB10-18D7-44E3-AD5B-923C48E940C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9E1C7-B628-4527-AB83-0F08CD521911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98" y="1153412"/>
            <a:ext cx="11643360" cy="957676"/>
          </a:xfrm>
        </p:spPr>
        <p:txBody>
          <a:bodyPr>
            <a:noAutofit/>
          </a:bodyPr>
          <a:lstStyle/>
          <a:p>
            <a:r>
              <a:rPr lang="en-GB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62298" y="3976330"/>
            <a:ext cx="7903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Mahisha V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Vemana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Technology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STU68a5d246ade8a1755697734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DF04C-9A3A-2BFC-99CA-12EE5CAF940B}"/>
              </a:ext>
            </a:extLst>
          </p:cNvPr>
          <p:cNvSpPr txBox="1"/>
          <p:nvPr/>
        </p:nvSpPr>
        <p:spPr>
          <a:xfrm>
            <a:off x="462298" y="2548653"/>
            <a:ext cx="83237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of Crop Yield, Resources and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256" y="1404770"/>
            <a:ext cx="9644891" cy="49706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raw agricultural data does not clearly explain how agricultural performance changes across seasons or what patterns can be observed in different seasonal conditions.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given agricultural dataset and investigate seasonal differences in agricultural performance by identifying meaningful patterns, trends, relationships and variations within the available data.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256" y="518139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51900">
            <a:off x="10891013" y="5365782"/>
            <a:ext cx="1008120" cy="1192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193040"/>
            <a:ext cx="7002314" cy="83099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4DA60-6152-4D50-01D5-6F5235E6DF02}"/>
              </a:ext>
            </a:extLst>
          </p:cNvPr>
          <p:cNvSpPr txBox="1"/>
          <p:nvPr/>
        </p:nvSpPr>
        <p:spPr>
          <a:xfrm>
            <a:off x="309283" y="1012687"/>
            <a:ext cx="999116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seasonal agriculture performance dataset containing 4,000 records and 28 variables.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and season-wise agricultural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such as rainfall, temperature, humidity and soil moisture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inputs such as fertilizer and water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methods and their relationship with yield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Production, revenue and farm profitability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 and relationships among numerical variables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differences and crop-level performance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NumPy, Matplotlib, Seaborn and Google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5196" y="708062"/>
            <a:ext cx="11052039" cy="5638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crop and seasonal performance.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resource-use patterns.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Planners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seasonal planning and resource allocation.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relationships between environmental and agricultural factors.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&amp; Agriculture Departments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broader seasonal and crop-level performance patterns.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Decision Makers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production, revenue and profitability trends.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166015"/>
            <a:ext cx="7904481" cy="54204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FC23D8-7B57-8E75-BA7A-72ACB7C4080C}"/>
              </a:ext>
            </a:extLst>
          </p:cNvPr>
          <p:cNvSpPr/>
          <p:nvPr/>
        </p:nvSpPr>
        <p:spPr>
          <a:xfrm>
            <a:off x="579120" y="6410960"/>
            <a:ext cx="2011680" cy="2810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249481"/>
            <a:ext cx="5896119" cy="531242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primary programming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 loading, cleaning, transformation and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numerical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statistical and analytical visualizations.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18" y="296097"/>
            <a:ext cx="6601013" cy="61830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3100-B526-749D-2028-D16E382F6EFE}"/>
              </a:ext>
            </a:extLst>
          </p:cNvPr>
          <p:cNvSpPr txBox="1"/>
          <p:nvPr/>
        </p:nvSpPr>
        <p:spPr>
          <a:xfrm>
            <a:off x="6363478" y="1249480"/>
            <a:ext cx="5635688" cy="430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advanced statistical plots such as box plots, pair plots and heatmaps.</a:t>
            </a:r>
          </a:p>
          <a:p>
            <a:pPr marL="457200" indent="-45720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development and execution environment.</a:t>
            </a:r>
          </a:p>
          <a:p>
            <a:pPr marL="457200" indent="-45720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"/>
            <a:ext cx="8927190" cy="9954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Cleaning</a:t>
            </a:r>
            <a:b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C5050-9CE9-80B9-6692-3FDE5D1164E1}"/>
              </a:ext>
            </a:extLst>
          </p:cNvPr>
          <p:cNvSpPr txBox="1"/>
          <p:nvPr/>
        </p:nvSpPr>
        <p:spPr>
          <a:xfrm>
            <a:off x="320981" y="1390648"/>
            <a:ext cx="2676861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4,000 Rows × 28 Columns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Rainfall: 48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Moisture: 40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Yield: 32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EB20C3-25E8-D123-3E05-B30C0255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7" r="1980" b="4417"/>
          <a:stretch>
            <a:fillRect/>
          </a:stretch>
        </p:blipFill>
        <p:spPr>
          <a:xfrm>
            <a:off x="2998606" y="893407"/>
            <a:ext cx="5961747" cy="2835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DC585E-3F32-C3EB-D039-519B2CFA8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9" t="3075" r="2940" b="4212"/>
          <a:stretch>
            <a:fillRect/>
          </a:stretch>
        </p:blipFill>
        <p:spPr>
          <a:xfrm>
            <a:off x="2997842" y="3952087"/>
            <a:ext cx="4629874" cy="251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D36F-709F-BE45-5A06-08818772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B0F85F-2156-F071-84AC-6DF31A12E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7AFCECD-ED76-D75D-CFD1-14931A44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88" y="193040"/>
            <a:ext cx="8086079" cy="666079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Univariate Analysis 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2AECD9-3DC7-726B-60B5-A33EF1659CA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40F07-00CF-C65E-DCC3-558FE160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9" t="1" r="40540" b="1533"/>
          <a:stretch>
            <a:fillRect/>
          </a:stretch>
        </p:blipFill>
        <p:spPr>
          <a:xfrm>
            <a:off x="5460143" y="789671"/>
            <a:ext cx="4910773" cy="3166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FD04E8-1F70-EAAD-EEF9-6CC36D4AF7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69" r="22964"/>
          <a:stretch>
            <a:fillRect/>
          </a:stretch>
        </p:blipFill>
        <p:spPr>
          <a:xfrm>
            <a:off x="320982" y="859119"/>
            <a:ext cx="4668073" cy="28795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859C75-9723-0A90-A180-B46808A660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51" r="22769" b="4134"/>
          <a:stretch>
            <a:fillRect/>
          </a:stretch>
        </p:blipFill>
        <p:spPr>
          <a:xfrm>
            <a:off x="320982" y="3956484"/>
            <a:ext cx="4783820" cy="27084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C05780-AE93-C546-3316-9601EB09EB1F}"/>
              </a:ext>
            </a:extLst>
          </p:cNvPr>
          <p:cNvSpPr txBox="1"/>
          <p:nvPr/>
        </p:nvSpPr>
        <p:spPr>
          <a:xfrm>
            <a:off x="5590540" y="4553115"/>
            <a:ext cx="6101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Kharif: 1,779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Rabi: 1,627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Zaid: 594</a:t>
            </a:r>
          </a:p>
        </p:txBody>
      </p:sp>
    </p:spTree>
    <p:extLst>
      <p:ext uri="{BB962C8B-B14F-4D97-AF65-F5344CB8AC3E}">
        <p14:creationId xmlns:p14="http://schemas.microsoft.com/office/powerpoint/2010/main" val="204993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A6AE-01F5-F2CC-B4DB-7C9BBEB1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5A81F9-068E-8399-5F82-8B59634792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FD94C-A84F-F0B6-33B1-FBD39A79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04371"/>
            <a:ext cx="7738838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AB24652-92B0-C191-71E4-557CBEBD38A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289C3C-6FAB-8724-CA87-6A8B3B47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656611"/>
            <a:ext cx="4586857" cy="32027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4780B-5484-A53B-C9EB-7F30199FA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882" y="753820"/>
            <a:ext cx="4813011" cy="2970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3472CC-5094-D8F8-CE65-0223CF04F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810" y="3800377"/>
            <a:ext cx="4699083" cy="29500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A389BB-8C68-FCED-028B-681133DE8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37" y="3800377"/>
            <a:ext cx="4924146" cy="288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8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3385-D6B7-6F4C-C6E9-1B7A8154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29124-A633-09C6-4EF8-83471B0567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441A3A-236A-CBDD-93BD-322545B9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7727263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D3396D5-9ECE-025C-D250-FCE7C792825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69F0F2-E9EC-6E72-0EAD-0F472EE1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166" y="3604828"/>
            <a:ext cx="5258375" cy="31208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0B3EC4-6BCE-4A36-FB7B-CA4A8513E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737736"/>
            <a:ext cx="6314648" cy="312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8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CE76-7AB0-FEEF-3A96-3E2E23DBD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405529-23C3-0921-071F-B12EDAAF37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C5E23BF-31E2-F79F-7AC2-14D2FC7D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94535"/>
            <a:ext cx="7727263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FCE90D9-D67F-6E08-9BD7-B13E05715B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231248-6C04-C90D-4B9E-80B8F5E7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90363"/>
            <a:ext cx="8787316" cy="44482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1479BD-D045-3910-52F2-4FE2F15470E6}"/>
              </a:ext>
            </a:extLst>
          </p:cNvPr>
          <p:cNvSpPr txBox="1"/>
          <p:nvPr/>
        </p:nvSpPr>
        <p:spPr>
          <a:xfrm>
            <a:off x="594161" y="5603506"/>
            <a:ext cx="87521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variables were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to identify seasonal and performance patterns.</a:t>
            </a:r>
          </a:p>
        </p:txBody>
      </p:sp>
    </p:spTree>
    <p:extLst>
      <p:ext uri="{BB962C8B-B14F-4D97-AF65-F5344CB8AC3E}">
        <p14:creationId xmlns:p14="http://schemas.microsoft.com/office/powerpoint/2010/main" val="25222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88B7-5FE7-D7B2-6821-671DCD83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45DDE-FD19-2357-6E68-D346A08F4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3856C9F-04BB-D322-9918-B7B6D767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26" y="202975"/>
            <a:ext cx="8120802" cy="830997"/>
          </a:xfrm>
        </p:spPr>
        <p:txBody>
          <a:bodyPr>
            <a:normAutofit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C11611F-21AC-7C23-DA3E-B400D9F53B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3152C2-7376-516F-559E-F20F188BF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6" y="1156060"/>
            <a:ext cx="7578773" cy="5083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E4105D-D37E-24A5-A9F4-D42D81008FBC}"/>
              </a:ext>
            </a:extLst>
          </p:cNvPr>
          <p:cNvSpPr txBox="1"/>
          <p:nvPr/>
        </p:nvSpPr>
        <p:spPr>
          <a:xfrm>
            <a:off x="7899755" y="1275371"/>
            <a:ext cx="39932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Correlations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Area ↔ Production     0.96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↔ Humidity        0.52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↔ Soil Moisture   0.52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↔ Soil Moisture   0.45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↔ Yield           0.031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Risk ↔ Yield       0.013</a:t>
            </a:r>
          </a:p>
        </p:txBody>
      </p:sp>
    </p:spTree>
    <p:extLst>
      <p:ext uri="{BB962C8B-B14F-4D97-AF65-F5344CB8AC3E}">
        <p14:creationId xmlns:p14="http://schemas.microsoft.com/office/powerpoint/2010/main" val="93215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3" y="53686"/>
            <a:ext cx="4735798" cy="472953"/>
          </a:xfrm>
        </p:spPr>
        <p:txBody>
          <a:bodyPr>
            <a:normAutofit fontScale="90000"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E454D-20F9-996A-2B9C-943BBAD88C42}"/>
              </a:ext>
            </a:extLst>
          </p:cNvPr>
          <p:cNvSpPr txBox="1"/>
          <p:nvPr/>
        </p:nvSpPr>
        <p:spPr>
          <a:xfrm>
            <a:off x="242456" y="726141"/>
            <a:ext cx="1155003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Larger and More Diverse Datasets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analysis using agricultural data from more states, districts and farming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data from multiple years to study long-term agricultural trends. </a:t>
            </a:r>
          </a:p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Learning-Based Prediction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to predict: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Requirements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algorithms to identify suitable predictive models. </a:t>
            </a:r>
          </a:p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Smart Crop Recommendation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recommendation system using soil, weather, irrigation and historical performance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suitable crops and seasons based on observed agricultural conditions. </a:t>
            </a:r>
          </a:p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Resource Optimization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water, fertilizer and pesticide usage to identify opportunities for more efficient resource utilization. </a:t>
            </a:r>
          </a:p>
          <a:p>
            <a:pPr>
              <a:buNone/>
            </a:pP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3D55-A40D-F835-888C-DE4E543C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0A8565-6AA7-B690-3DD6-25666696FC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3DCA73-0A9D-FDEE-D9B7-5A598B11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3" y="152700"/>
            <a:ext cx="4735798" cy="666078"/>
          </a:xfrm>
        </p:spPr>
        <p:txBody>
          <a:bodyPr>
            <a:normAutofit fontScale="90000"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AD24E9D-55CB-5914-EEC8-18FF1C368BE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8D41CA8-AD84-F72E-6545-3BA61F0C5CF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54AF3-858A-0FDC-3569-05B2B6A693C2}"/>
              </a:ext>
            </a:extLst>
          </p:cNvPr>
          <p:cNvSpPr txBox="1"/>
          <p:nvPr/>
        </p:nvSpPr>
        <p:spPr>
          <a:xfrm>
            <a:off x="320982" y="818778"/>
            <a:ext cx="11550035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Interactive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Tableau or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filter results by crop, season, location and irrigation method.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Real-Time Agricultural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weather and environmental data from sensors or external data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rainfall, soil moisture and temperature for more timely decision-making.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Time-Series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seasonal and yearly trends in yield, production, market prices and profitability.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recurring patterns and changes in agricultural performance over time.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Risk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investigate disease, pest, weather and market-related risks.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early-warning models to support better agricultural planning.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extended from descriptive analysis into a predictive and decision-support system for data-driven agricultural planning.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48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370589"/>
            <a:ext cx="11572240" cy="90478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 -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B45EDA-328A-ED82-EC5D-BB8A38E7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3" t="1439" r="7044" b="2118"/>
          <a:stretch>
            <a:fillRect/>
          </a:stretch>
        </p:blipFill>
        <p:spPr>
          <a:xfrm>
            <a:off x="1889760" y="1355807"/>
            <a:ext cx="7335520" cy="520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728886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819</TotalTime>
  <Words>715</Words>
  <Application>Microsoft Office PowerPoint</Application>
  <PresentationFormat>Widescreen</PresentationFormat>
  <Paragraphs>101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:SEASONAL AGRICULTURE PERFORMANCE ANALYSIS</vt:lpstr>
      <vt:lpstr>PROBLEM  STATEMENT</vt:lpstr>
      <vt:lpstr>Project Description  </vt:lpstr>
      <vt:lpstr>WHO ARE THE END USERS?</vt:lpstr>
      <vt:lpstr>Technology Used</vt:lpstr>
      <vt:lpstr>RESULTS - Data Exploration &amp; Cleaning Dataset Overview</vt:lpstr>
      <vt:lpstr>RESULTS – Univariate Analysis  </vt:lpstr>
      <vt:lpstr>RESULTS - Bivariate Analysis  </vt:lpstr>
      <vt:lpstr>RESULTS - Multivariate Analysis </vt:lpstr>
      <vt:lpstr>RESULTS - Multivariate Analysis </vt:lpstr>
      <vt:lpstr>RESULTS - Correlation Analysis </vt:lpstr>
      <vt:lpstr>Future scope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MAHISHA V</cp:lastModifiedBy>
  <cp:revision>103</cp:revision>
  <dcterms:created xsi:type="dcterms:W3CDTF">2021-07-11T13:13:15Z</dcterms:created>
  <dcterms:modified xsi:type="dcterms:W3CDTF">2026-09-08T16:21:50Z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